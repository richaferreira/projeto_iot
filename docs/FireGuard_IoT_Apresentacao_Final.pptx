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E676"/>
                </a:solidFill>
              </a:rPr>
              <a:t>🔥 FireGuard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Sistema Inteligente de Alarme de Incêndio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6688"/>
                </a:solidFill>
              </a:rPr>
              <a:t>Trabalho 2 — Internet das Coisas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688"/>
                </a:solidFill>
              </a:rPr>
              <a:t>Richardson · Wallace · Emanuele · Vinícius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7AFF"/>
                </a:solidFill>
              </a:rPr>
              <a:t>Arduino UNO  ·  Python Flask  ·  MySQL  ·  HTML5 / 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Visão Geral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O que é o FireGuard IoT?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 FireGuard IoT é um sistema de alarme de incêndio inteligente que integra hardware (Arduino UNO) e software (Backend Python + Frontend Web). O sistema monitora continuamente o ambiente por meio de um sensor de chama infravermelho e registra todo o histórico de leituras em um banco de dados relacional MySQL.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2651760" cy="2011680"/>
          </a:xfrm>
          <a:prstGeom prst="rect">
            <a:avLst/>
          </a:prstGeom>
          <a:solidFill>
            <a:srgbClr val="101424"/>
          </a:solidFill>
          <a:ln w="1270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1744"/>
                </a:solidFill>
              </a:rPr>
              <a:t>🔴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Arduino UNO + Sensor de Chama
LEDs + Buzzer + Display 7 seg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468880"/>
            <a:ext cx="2651760" cy="2011680"/>
          </a:xfrm>
          <a:prstGeom prst="rect">
            <a:avLst/>
          </a:prstGeom>
          <a:solidFill>
            <a:srgbClr val="101424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560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🟡 Firmware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0175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C++ com máquina de estados
Histerese + Debounce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468880"/>
            <a:ext cx="2651760" cy="2011680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560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</a:rPr>
              <a:t>🔵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0175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Python Flask + MySQL
API REST + Leitura Serial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2468880"/>
            <a:ext cx="2651760" cy="2011680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560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</a:rPr>
              <a:t>🟢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0175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Dashboard Tempo Real
Histórico com Filtros + 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Arquitetura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Modelo em Três Camadas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11457432" cy="1417320"/>
          </a:xfrm>
          <a:prstGeom prst="rect">
            <a:avLst/>
          </a:prstGeom>
          <a:solidFill>
            <a:srgbClr val="101424"/>
          </a:solidFill>
          <a:ln w="1270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1744"/>
                </a:solidFill>
              </a:rPr>
              <a:t>CAMADA 1 — SENSORES (Arduino)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Sensor de Chama (A0)
LEDs · Buzzer · Display 7 Seg · Botão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88"/>
                </a:solidFill>
              </a:rPr>
              <a:t>▼  Comunicação Serial / API REST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11457432" cy="1417320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</a:rPr>
              <a:t>CAMADA 2 — DADOS (Backend Flask + MySQL)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Leitura Serial · Validação · Armazenamento Relacional
API REST com filtros avançados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88"/>
                </a:solidFill>
              </a:rPr>
              <a:t>▼  Comunicação Serial / API REST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72000"/>
            <a:ext cx="11457432" cy="1417320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</a:rPr>
              <a:t>CAMADA 3 — APRESENTAÇÃO (Frontend Web)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Dashboard Tempo Real (Web Serial API)
Histórico com Filtros · Gráficos · 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Sensor Utilizado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Sensor de Chama Infravermelho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11457432" cy="4389120"/>
          </a:xfrm>
          <a:prstGeom prst="rect">
            <a:avLst/>
          </a:prstGeom>
          <a:solidFill>
            <a:srgbClr val="101424"/>
          </a:solidFill>
          <a:ln w="1270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1744"/>
                </a:solidFill>
              </a:rPr>
              <a:t>🔥  Sensor de Chama Infravermelho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Pino: A0 (analógico 0–1023)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SEGURO  → valor &gt; 700 (LEDs Verdes)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ALERTA  → valor 301–700 (LEDs Amarelos)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PERIGO  → valor ≤ 300 (LEDs Vermelhos + Buzzer a 2500Hz)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Histerese de 30 unidades para evitar transições instáveis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Leitura a cada 150 ms para detecção rápida e eficiente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Firmware Arduino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Máquina de Estados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Lógica de classificação de estado: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SEGURO  → Chama &gt; 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ALERTA  → Chama 301–700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PERIGO  → Chama ≤ 300  →  Buzzer 2500 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SILENCIADO  →  Botão pressionado  →  Contagem regressiva 10s no display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</a:rPr>
              <a:t>Boas práticas implementadas: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Histerese de 30 unidades nos limiares (evita oscilação entre estados)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9884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Debounce de 50 ms no botão físico (evita acionamentos falsos)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82896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Uso de millis() no lugar de delay() (não bloqueia o loop principal)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Transmissão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Arduino → Backend via Porta Serial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Formato das mensagens enviadas pelo Arduino (9600 baud):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4552" cy="640080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676"/>
                </a:solidFill>
              </a:rPr>
              <a:t>Sensor: 850 | Estado: SEGURO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</a:rPr>
              <a:t>Processamento no Backend: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Thread dedicada lê a porta serial continuamente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Extrai os valores com expressão regular (regex)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Insere no banco MySQL com timestamp automático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Se a porta serial não estiver disponível: modo simulação ativado automaticamente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Banco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Armazenamento Relacional Eficiente com MySQL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FF"/>
                </a:solidFill>
              </a:rPr>
              <a:t>Tabela: leituras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4552" cy="3657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1274552" cy="384048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0665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600"/>
                </a:solidFill>
              </a:rPr>
              <a:t>INT PK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06654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Chave primária auto incremento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95728"/>
            <a:ext cx="11274552" cy="384048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50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timestamp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450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600"/>
                </a:solidFill>
              </a:rPr>
              <a:t>DATETIME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45059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Data e hora da leitura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79776"/>
            <a:ext cx="11274552" cy="384048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sensor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600"/>
                </a:solidFill>
              </a:rPr>
              <a:t>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83464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Valor do sensor de chama (0–1023)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63824"/>
            <a:ext cx="11274552" cy="384048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218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</a:rPr>
              <a:t>estado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218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600"/>
                </a:solidFill>
              </a:rPr>
              <a:t>VARCHAR(20)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2186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SEGURO / ALERTA / PERIGO / SILENCIADO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7099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1709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1709928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Descrição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6688"/>
                </a:solidFill>
              </a:rPr>
              <a:t>Banco relacional MySQL atende à exigência da Rubrica para armazenamento eficiente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 REST do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Endpoints para Consulta de 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74552" cy="1005840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0" cy="10058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D1A"/>
                </a:solidFill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3533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/api/leituras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Retorna leituras com filtros: data, estado, limite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11274552" cy="1005840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914400" cy="100584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432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D1A"/>
                </a:solidFill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542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</a:rPr>
              <a:t>/api/leituras/resumo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9718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Estatísticas agregadas: total, min/max/média do sensor, por estado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11274552" cy="1005840"/>
          </a:xfrm>
          <a:prstGeom prst="rect">
            <a:avLst/>
          </a:prstGeom>
          <a:solidFill>
            <a:srgbClr val="101424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914400" cy="10058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31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D1A"/>
                </a:solidFill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7307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/api/leituras/datas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1605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Lista de datas disponíveis no banco (últimas 60)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11274552" cy="1005840"/>
          </a:xfrm>
          <a:prstGeom prst="rect">
            <a:avLst/>
          </a:prstGeom>
          <a:solidFill>
            <a:srgbClr val="101424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914400" cy="10058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1206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D1A"/>
                </a:solidFill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9194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</a:rPr>
              <a:t>/api/leitura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3492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Insere uma leitura via JSON { sensor, estado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em Tempo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Monitoramento via Web Serial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 interface em tempo real (index.html / serial.html) exibe: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Estado atual do sistema com badge colorido (SEGURO / ALERTA / PERIGO / SILENCIADO)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Gauge circular com o valor do sensor de chama (0–1023)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6 LEDs virtuais (Verde, Amarelo, Vermelho) espelhando o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Display de 7 segmentos virtual mostrando a contagem regressiva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Log de eventos com timestamp e tipo de mensagem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Gráfico histórico da sessão atual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Página de Histórico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Consulta e Análise de Dados com Filtros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4389120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</a:rPr>
              <a:t>🔍  Filtros Disponíveis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Atalhos: Hoje / Ontem / 7 dias / 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2140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Data início e Data fim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0545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Estado (Seguro/Alerta/Perigo/Silenciado)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950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Limite de registros (50–1000)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188720"/>
            <a:ext cx="5394960" cy="4389120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</a:rPr>
              <a:t>📊  Visualizações e Ações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73736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Cards de estatísticas (total, por estado)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2140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Sensor mín/máx/média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0545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Gráfico histórico (linha)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8950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Tabela com histórico de Chama e Estado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735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Exportação para 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Requisitos Funcionais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13 Requisitos Implementados e Testados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669280" cy="621792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435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</a:rPr>
              <a:t>RF-01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2435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Leitura do Sensor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179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88"/>
                </a:solidFill>
              </a:rPr>
              <a:t>Sensor de chama infravermelho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01952"/>
            <a:ext cx="5669280" cy="621792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56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</a:rPr>
              <a:t>RF-02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9568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Classificação de Estado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2311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88"/>
                </a:solidFill>
              </a:rPr>
              <a:t>SEGURO / ALERTA / PERIGO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15184"/>
            <a:ext cx="5669280" cy="621792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700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</a:rPr>
              <a:t>RF-03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6700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Feedback Visual 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9443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88"/>
                </a:solidFill>
              </a:rPr>
              <a:t>LEDs Verde, Amarelo e Vermelho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28415"/>
            <a:ext cx="5669280" cy="621792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8327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</a:rPr>
              <a:t>RF-04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38327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Feedback Sonoro 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5759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88"/>
                </a:solidFill>
              </a:rPr>
              <a:t>Buzzer contínuo a 2500 Hz no estado PERIGO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41648"/>
            <a:ext cx="5669280" cy="621792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9651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</a:rPr>
              <a:t>RF-05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096511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Silenciamento Temporário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3708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88"/>
                </a:solidFill>
              </a:rPr>
              <a:t>Botão físico com debounce de 50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54880"/>
            <a:ext cx="5669280" cy="621792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097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</a:rPr>
              <a:t>RF-06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8097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Contagem Regressiva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0840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88"/>
                </a:solidFill>
              </a:rPr>
              <a:t>Display de 7 segmentos (10 segundos)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468112"/>
            <a:ext cx="5669280" cy="621792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522975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</a:rPr>
              <a:t>RF-07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522975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Transmissão de Dados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79729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88"/>
                </a:solidFill>
              </a:rPr>
              <a:t>Porta serial USB a 9600 baud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188720"/>
            <a:ext cx="5669280" cy="621792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2435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FF"/>
                </a:solidFill>
              </a:rPr>
              <a:t>RF-08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12435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Armazenamento em BD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15179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88"/>
                </a:solidFill>
              </a:rPr>
              <a:t>MySQL com timestamp, chama, estado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1901952"/>
            <a:ext cx="5669280" cy="621792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1956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FF"/>
                </a:solidFill>
              </a:rPr>
              <a:t>RF-09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19568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Dashboard Tempo Real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22311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88"/>
                </a:solidFill>
              </a:rPr>
              <a:t>Web Serial API — sem servidor intermediário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2615184"/>
            <a:ext cx="5669280" cy="621792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26700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FF"/>
                </a:solidFill>
              </a:rPr>
              <a:t>RF-10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26700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Consulta de Histórico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29443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88"/>
                </a:solidFill>
              </a:rPr>
              <a:t>Página dedicada com tabela e gráfico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328415"/>
            <a:ext cx="5669280" cy="621792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338327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FF"/>
                </a:solidFill>
              </a:rPr>
              <a:t>RF-11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338327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Filtros de Consulta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365759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88"/>
                </a:solidFill>
              </a:rPr>
              <a:t>Data, intervalo de datas, estado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041648"/>
            <a:ext cx="5669280" cy="621792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09651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FF"/>
                </a:solidFill>
              </a:rPr>
              <a:t>RF-12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4096511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Estatísticas Resumidas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8040" y="43708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88"/>
                </a:solidFill>
              </a:rPr>
              <a:t>Total, por estado, min/max/média do sensor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4754880"/>
            <a:ext cx="5669280" cy="621792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48097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FF"/>
                </a:solidFill>
              </a:rPr>
              <a:t>RF-13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48097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Exportação de Dados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78040" y="50840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88"/>
                </a:solidFill>
              </a:rPr>
              <a:t>CSV com todos os campos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Requisitos Não Funcionais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Qualidade, Desempenho e Confiabilidade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274552" cy="594360"/>
          </a:xfrm>
          <a:prstGeom prst="rect">
            <a:avLst/>
          </a:prstGeom>
          <a:solidFill>
            <a:srgbClr val="101424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RNF-01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Desempenho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3258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Sensor de chama lido a cada 150 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11274552" cy="594360"/>
          </a:xfrm>
          <a:prstGeom prst="rect">
            <a:avLst/>
          </a:prstGeom>
          <a:solidFill>
            <a:srgbClr val="101424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RNF-02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Desempenho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0116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Transição de estado em até 200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06040"/>
            <a:ext cx="11274552" cy="594360"/>
          </a:xfrm>
          <a:prstGeom prst="rect">
            <a:avLst/>
          </a:prstGeom>
          <a:solidFill>
            <a:srgbClr val="101424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974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RNF-03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Confiabilidade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697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Histerese de 30 unidades nos limiares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11274552" cy="594360"/>
          </a:xfrm>
          <a:prstGeom prst="rect">
            <a:avLst/>
          </a:prstGeom>
          <a:solidFill>
            <a:srgbClr val="101424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3832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RNF-04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Segurança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3832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Alarme sonoro a 2500 Hz no estado PERIGO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77639"/>
            <a:ext cx="11274552" cy="594360"/>
          </a:xfrm>
          <a:prstGeom prst="rect">
            <a:avLst/>
          </a:prstGeom>
          <a:solidFill>
            <a:srgbClr val="101424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6907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RNF-05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069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Usabilidade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069079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Interface responsiva (mobile e desktop)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63440"/>
            <a:ext cx="11274552" cy="594360"/>
          </a:xfrm>
          <a:prstGeom prst="rect">
            <a:avLst/>
          </a:prstGeom>
          <a:solidFill>
            <a:srgbClr val="101424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5487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RNF-06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7548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Portabilidade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754879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Backend Python + Banco MySQL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11274552" cy="594360"/>
          </a:xfrm>
          <a:prstGeom prst="rect">
            <a:avLst/>
          </a:prstGeom>
          <a:solidFill>
            <a:srgbClr val="101424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44067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RNF-07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4406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Manutenibilidade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440679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Código modular, comentado e bem estruturado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Documentação de Engenharia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Casos de Uso · Classes · 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 projeto foi modelado seguindo boas práticas de Engenharia de Software: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3657600" cy="4114800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</a:rPr>
              <a:t>Diagrama de Casos de 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88"/>
                </a:solidFill>
              </a:rPr>
              <a:t>Interações entre atores (Usuário, Arduino, Backend) e 10 casos de uso do sistema.</a:t>
            </a:r>
          </a:p>
        </p:txBody>
      </p:sp>
      <p:pic>
        <p:nvPicPr>
          <p:cNvPr id="12" name="Picture 11" descr="diagrama_casos_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63240"/>
            <a:ext cx="3474720" cy="25603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97680" y="1691640"/>
            <a:ext cx="3657600" cy="4114800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783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</a:rPr>
              <a:t>Diagrama de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402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88"/>
                </a:solidFill>
              </a:rPr>
              <a:t>Estrutura OO com interfaces Sensor, SensorChama, Arduino, Backend, BD e Frontend.</a:t>
            </a:r>
          </a:p>
        </p:txBody>
      </p:sp>
      <p:pic>
        <p:nvPicPr>
          <p:cNvPr id="16" name="Picture 15" descr="diagrama_clas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063240"/>
            <a:ext cx="3474720" cy="25603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229600" y="1691640"/>
            <a:ext cx="3657600" cy="4114800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83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</a:rPr>
              <a:t>Modelo Entidade Rel. (MER)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402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88"/>
                </a:solidFill>
              </a:rPr>
              <a:t>Estrutura do banco de dados relacional com a tabela leituras e todos os seus campos.</a:t>
            </a:r>
          </a:p>
        </p:txBody>
      </p:sp>
      <p:pic>
        <p:nvPicPr>
          <p:cNvPr id="20" name="Picture 19" descr="diagrama_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063240"/>
            <a:ext cx="34747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Stack Tecnológico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Tecnologias Utilizadas no Projeto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651760" cy="4572000"/>
          </a:xfrm>
          <a:prstGeom prst="rect">
            <a:avLst/>
          </a:prstGeom>
          <a:solidFill>
            <a:srgbClr val="101424"/>
          </a:solidFill>
          <a:ln w="1270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1744"/>
                </a:solidFill>
              </a:rPr>
              <a:t>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Arduino UNO (ATmega328P)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Sensor de Chama Infravermelho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LEDs RGB · Buzzer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Botão · Display 7 Segmentos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188720"/>
            <a:ext cx="2651760" cy="4572000"/>
          </a:xfrm>
          <a:prstGeom prst="rect">
            <a:avLst/>
          </a:prstGeom>
          <a:solidFill>
            <a:srgbClr val="101424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280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Firmware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C++ (Arduino IDE)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194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Máquina de estados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6060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Histerese + Debounce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millis() (sem delay bloqueante)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188720"/>
            <a:ext cx="2651760" cy="4572000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280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Python 3 + Flask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194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Flask-CORS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6060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PySerial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MySQL (Banco Relacional)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4290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API REST + JSON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188720"/>
            <a:ext cx="2651760" cy="4572000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1280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</a:rPr>
              <a:t>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HTML5 + CSS3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194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JavaScript ES6 Vanilla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6060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Web Serial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Canvas (gráficos)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4290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 Responsive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Como Executar 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Passo a Passo de Instalação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274552" cy="731520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93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1. Configurar o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18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Criar banco fireguard_db e configurar usuário/senha no 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57400"/>
            <a:ext cx="11274552" cy="731520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122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2. Instalar Dependências do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4144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cd backend  &amp;&amp;  pip install -r requirements.txt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11274552" cy="731520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352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3. Iniciar o Servidor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644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python server.py   →   http://localhost:5000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11274552" cy="731520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581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4. Conectar o Arduino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87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Carregar codigo.ino na IDE Arduino · Conectar via USB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26280"/>
            <a:ext cx="11274552" cy="731520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811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5. Abrir o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103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Abrir serial.html no Chrome/Edge  →  Clicar em Conectar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49240"/>
            <a:ext cx="11274552" cy="731520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40410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6. Consultar o Histórico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332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Abrir historico.html  →  Aplicar filtros  →  Exportar CSV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Demonstração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Fluxo Completo de Funcionamento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Fluxo de dados em operação normal: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11274552" cy="731520"/>
          </a:xfrm>
          <a:prstGeom prst="rect">
            <a:avLst/>
          </a:prstGeom>
          <a:solidFill>
            <a:srgbClr val="101424"/>
          </a:solidFill>
          <a:ln w="1270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922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1744"/>
                </a:solidFill>
              </a:rPr>
              <a:t>  1.  Arduino lê o sensor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92224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Chama (A0) a cada 150ms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06039"/>
            <a:ext cx="11274552" cy="731520"/>
          </a:xfrm>
          <a:prstGeom prst="rect">
            <a:avLst/>
          </a:prstGeom>
          <a:solidFill>
            <a:srgbClr val="101424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6090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  2.  Classifica o estado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60903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Aplica histerese (SEGURO / ALERTA / PERIGO)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11274552" cy="731520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295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</a:rPr>
              <a:t>  3.  Transmite via Serial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529584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Sensor: 850 | Estado: SEGURO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43400"/>
            <a:ext cx="11274552" cy="731520"/>
          </a:xfrm>
          <a:prstGeom prst="rect">
            <a:avLst/>
          </a:prstGeom>
          <a:solidFill>
            <a:srgbClr val="101424"/>
          </a:solidFill>
          <a:ln w="12700">
            <a:solidFill>
              <a:srgbClr val="29B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982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B6F6"/>
                </a:solidFill>
              </a:rPr>
              <a:t>  4.  Backend armazena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398264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Flask recebe, valida e insere no MySQL com timestamp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79"/>
            <a:ext cx="11274552" cy="731520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26694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  5.  Frontend exibe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266943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Dashboard atualiza em tempo real · Histórico disponível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8"/>
                </a:solidFill>
              </a:rPr>
              <a:t>FireGuard IoT: Solução Completa e Integrada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</a:rPr>
              <a:t>Richardson · Wallace · Emanuele · Vinícius  |  FireGuard IoT — Trabalho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 FireGuard IoT demonstra a integração bem-sucedida de hardware, backend e frontend em um sistema de alarme de incêndio inteligente.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11274552" cy="658368"/>
          </a:xfrm>
          <a:prstGeom prst="rect">
            <a:avLst/>
          </a:prstGeom>
          <a:solidFill>
            <a:srgbClr val="1014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E676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</a:rPr>
              <a:t>Sensor Funcional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67712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Sensor de Chama infravermelho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44368"/>
            <a:ext cx="11274552" cy="658368"/>
          </a:xfrm>
          <a:prstGeom prst="rect">
            <a:avLst/>
          </a:prstGeom>
          <a:solidFill>
            <a:srgbClr val="101424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8152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AFF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</a:rPr>
              <a:t>Interface Gráfica Completa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01752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Dashboard tempo real + Histórico com filtros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94176"/>
            <a:ext cx="11274552" cy="658368"/>
          </a:xfrm>
          <a:prstGeom prst="rect">
            <a:avLst/>
          </a:prstGeom>
          <a:solidFill>
            <a:srgbClr val="101424"/>
          </a:solidFill>
          <a:ln w="12700">
            <a:solidFill>
              <a:srgbClr val="29B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313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9B6F6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67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B6F6"/>
                </a:solidFill>
              </a:rPr>
              <a:t>Banco de Dados Relacional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6732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MySQL para armazenamento histórico eficiente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43983"/>
            <a:ext cx="11274552" cy="658368"/>
          </a:xfrm>
          <a:prstGeom prst="rect">
            <a:avLst/>
          </a:prstGeom>
          <a:solidFill>
            <a:srgbClr val="101424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5811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600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171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Documentação Completa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517136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RF/RNF + Casos de Uso + Diagrama de Classes + MER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193792"/>
            <a:ext cx="11274552" cy="658368"/>
          </a:xfrm>
          <a:prstGeom prst="rect">
            <a:avLst/>
          </a:prstGeom>
          <a:solidFill>
            <a:srgbClr val="101424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330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9800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2669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</a:rPr>
              <a:t>Código Bem Estruturado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266944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Modular, comentado, com histerese, debounce e boas práticas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E676"/>
                </a:solidFill>
              </a:rPr>
              <a:t>🔥 FireGuard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56688"/>
                </a:solidFill>
              </a:rPr>
              <a:t>Dúvidas e Perguntas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688"/>
                </a:solidFill>
              </a:rPr>
              <a:t>Richardson · Wallace · Emanuele · Vinícius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7AFF"/>
                </a:solidFill>
              </a:rPr>
              <a:t>github.com/richaferreira/Projeto_IoT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